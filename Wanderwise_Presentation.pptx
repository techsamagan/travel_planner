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297680"/>
            <a:ext cx="3840480" cy="3840480"/>
          </a:xfrm>
          <a:prstGeom prst="ellipse">
            <a:avLst/>
          </a:prstGeom>
          <a:solidFill>
            <a:srgbClr val="7EC8F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4023360"/>
            <a:ext cx="2377440" cy="2377440"/>
          </a:xfrm>
          <a:prstGeom prst="ellipse">
            <a:avLst/>
          </a:prstGeom>
          <a:solidFill>
            <a:srgbClr val="0EA5E9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777240"/>
            <a:ext cx="868680" cy="86868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FFFF"/>
              </a:gs>
              <a:gs pos="100000">
                <a:srgbClr val="7EC8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41248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Wanderwise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331720"/>
            <a:ext cx="36576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7744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⬤  FINAL YEAR PROJECT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Your Next Adventure,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E6F3FF"/>
                </a:solidFill>
                <a:latin typeface="Calibri"/>
              </a:rPr>
              <a:t>Engineered by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0916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6F3FF"/>
                </a:solidFill>
                <a:latin typeface="Calibri"/>
              </a:rPr>
              <a:t>A production-ready full-stack AI Travel Planner — React, Node/Express, SQLite &amp; Claude.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440680"/>
            <a:ext cx="7040880" cy="960120"/>
          </a:xfrm>
          <a:prstGeom prst="roundRect">
            <a:avLst>
              <a:gd name="adj" fmla="val 18000"/>
            </a:avLst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541264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6F3FF"/>
                </a:solidFill>
                <a:latin typeface="Calibri"/>
              </a:rPr>
              <a:t>Student: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Aiperi Kudaibergenova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6F3FF"/>
                </a:solidFill>
                <a:latin typeface="Calibri"/>
              </a:rPr>
              <a:t>Instructor: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Abdulkerim Oncu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2" y="2103120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066544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The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Why trip planning is painful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11112" y="2103120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066544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The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What Wanderwise does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999232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3272" y="3182112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145536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Key Features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AI, routing, budgets, collaboration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999232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1112" y="3182112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145536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Technology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Frontend, backend, AI,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78224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3272" y="4261104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224528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System 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078224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11112" y="4261104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224528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AI &amp; Data 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Prompting, schema, SQLite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157216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" y="5340096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03520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UX, Theming &amp; Access.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Light/dark + WCAG AA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5157216"/>
            <a:ext cx="52578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11112" y="5340096"/>
            <a:ext cx="566928" cy="56692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303520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Testing &amp; Conclusion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Results and future work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Planning a trip is exhausting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4712" y="2304288"/>
            <a:ext cx="731520" cy="73152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47B42"/>
              </a:gs>
              <a:gs pos="100000">
                <a:srgbClr val="E11D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267712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2942"/>
                </a:solidFill>
                <a:latin typeface="Calibri"/>
              </a:rPr>
              <a:t>Hours of research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Blogs, forums and 30 open browser tabs just to draft one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1168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2552" y="2304288"/>
            <a:ext cx="731520" cy="73152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47B42"/>
              </a:gs>
              <a:gs pos="100000">
                <a:srgbClr val="E11D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2267712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2942"/>
                </a:solidFill>
                <a:latin typeface="Calibri"/>
              </a:rPr>
              <a:t>Scattered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Maps, spreadsheets, notes and reviews never live in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9476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24712" y="4087368"/>
            <a:ext cx="731520" cy="73152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47B42"/>
              </a:gs>
              <a:gs pos="100000">
                <a:srgbClr val="E11D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4050792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2942"/>
                </a:solidFill>
                <a:latin typeface="Calibri"/>
              </a:rPr>
              <a:t>Budget blind spots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Costs are guessed, not planned — surprises ruin the trip.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79476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2552" y="4087368"/>
            <a:ext cx="731520" cy="73152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47B42"/>
              </a:gs>
              <a:gs pos="100000">
                <a:srgbClr val="E11D4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4050792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2942"/>
                </a:solidFill>
                <a:latin typeface="Calibri"/>
              </a:rPr>
              <a:t>Generic itineraries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Templates ignore your vibe, pace and who you travel with.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One sentence in. A full trip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5029200" cy="4114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4805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F3FF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EC8F0"/>
                </a:solidFill>
                <a:latin typeface="Calibri"/>
              </a:rPr>
              <a:t>1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Tell us the destination &amp; days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EC8F0"/>
                </a:solidFill>
                <a:latin typeface="Calibri"/>
              </a:rPr>
              <a:t>2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Pick a travel style &amp; companions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EC8F0"/>
                </a:solidFill>
                <a:latin typeface="Calibri"/>
              </a:rPr>
              <a:t>3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AI crafts a timed, budgeted plan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EC8F0"/>
                </a:solidFill>
                <a:latin typeface="Calibri"/>
              </a:rPr>
              <a:t>4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Explore days, budget &amp; packing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1206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167128"/>
            <a:ext cx="109728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Personalized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Every itinerary is built around your vibe, pace and group — never a template.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1206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584448"/>
            <a:ext cx="109728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56616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Complete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Morning-to-evening activities, cost breakdowns and a packing list in one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00600"/>
            <a:ext cx="51206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5001768"/>
            <a:ext cx="109728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9834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Instant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A full multi-day plan generated in seconds, not hours of manual research.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28600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AI Personalization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Plans tailored to vibe, pace &amp; companions.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228600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6B6D4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Smart Routing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Logical day-by-day sequencing, less backtracking.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01168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28600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4785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10896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Budget Optimization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Transparent food, activity &amp; lodging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1480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438912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EC4899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1208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Companion-Aware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Solo, couple, family or friends — pace adapts.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1480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438912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🗓️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21208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Timeline View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Morning / afternoon / evening with icons.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114800"/>
            <a:ext cx="3456432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49640" y="4389120"/>
            <a:ext cx="713232" cy="71323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B45309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212080"/>
            <a:ext cx="2907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0F2942"/>
                </a:solidFill>
                <a:latin typeface="Calibri"/>
              </a:rPr>
              <a:t>Packing &amp; Tracking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Interactive checklist and budget breakdown.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2416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240280"/>
            <a:ext cx="109728" cy="8412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0284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157984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423160"/>
            <a:ext cx="98389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98389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React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4646" y="2423160"/>
            <a:ext cx="647395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4646" y="2468880"/>
            <a:ext cx="647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6633" y="2423160"/>
            <a:ext cx="1320393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6633" y="2468880"/>
            <a:ext cx="132039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Tailwind CSS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11618" y="2423160"/>
            <a:ext cx="1404518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1618" y="2468880"/>
            <a:ext cx="14045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Framer Motion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0728" y="2423160"/>
            <a:ext cx="1320393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0728" y="2468880"/>
            <a:ext cx="132039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Lucide Icons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5713" y="2423160"/>
            <a:ext cx="1320393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5713" y="2468880"/>
            <a:ext cx="132039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React Router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474720"/>
            <a:ext cx="1042416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3703320"/>
            <a:ext cx="109728" cy="8412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621024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886200"/>
            <a:ext cx="899769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931920"/>
            <a:ext cx="89976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Node.js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0521" y="388620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0521" y="393192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Express.js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7257" y="3886200"/>
            <a:ext cx="98389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7257" y="3931920"/>
            <a:ext cx="98389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JWT Auth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95743" y="3886200"/>
            <a:ext cx="81564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5743" y="3931920"/>
            <a:ext cx="8156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bcrypt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5979" y="3886200"/>
            <a:ext cx="98389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5979" y="3931920"/>
            <a:ext cx="98389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REST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937760"/>
            <a:ext cx="1042416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1560" y="5166360"/>
            <a:ext cx="109728" cy="8412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47857"/>
              </a:gs>
              <a:gs pos="100000">
                <a:srgbClr val="04785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5084064"/>
            <a:ext cx="2194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Data &amp;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5349240"/>
            <a:ext cx="815644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394960"/>
            <a:ext cx="8156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SQLite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46396" y="5349240"/>
            <a:ext cx="1488643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6396" y="5394960"/>
            <a:ext cx="14886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better-sqlite3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1" y="5349240"/>
            <a:ext cx="1656892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1" y="5394960"/>
            <a:ext cx="16568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Anthropic Claude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1115" y="5349240"/>
            <a:ext cx="1236268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1115" y="5394960"/>
            <a:ext cx="12362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JSON Schema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3108960" cy="219456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284C7"/>
              </a:gs>
              <a:gs pos="100000">
                <a:srgbClr val="0369A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651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React Client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Landing · Auth ·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Wizard + Itinerary 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JWT in localStorage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Vite dev proxy → /api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86000"/>
            <a:ext cx="3108960" cy="219456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468880"/>
            <a:ext cx="2651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Express API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/auth/register · /login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/generate-itinerary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JWT middleware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Input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91640"/>
            <a:ext cx="3017520" cy="15544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0F766E"/>
              </a:gs>
              <a:gs pos="100000">
                <a:srgbClr val="04785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74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Anthropic Claude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System prompt → strict JSON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Mock fallback if no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520440"/>
            <a:ext cx="3017520" cy="155448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2563EB"/>
              </a:gs>
              <a:gs pos="100000">
                <a:srgbClr val="4F46E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033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SQLite Database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users + trips tables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6F3FF"/>
                </a:solidFill>
                <a:latin typeface="Calibri"/>
              </a:rPr>
              <a:t>better-sqlite3 (WAL)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23360" y="3246120"/>
            <a:ext cx="530352" cy="31089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935224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HTTPS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26679" y="2331720"/>
            <a:ext cx="530352" cy="31089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726679" y="4160520"/>
            <a:ext cx="530352" cy="310896"/>
          </a:xfrm>
          <a:prstGeom prst="rightArrow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369A1"/>
                </a:solidFill>
                <a:latin typeface="Calibri"/>
              </a:rPr>
              <a:t>Request flow: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the client sends an authenticated POST to /api/generate-itinerary. Express validates the input, builds a structured system prompt, calls Claude (or the deterministic mock), normalizes the JSON, persists the trip to SQLite, and returns the itinerary.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AI Itinerary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75569"/>
                </a:solidFill>
                <a:latin typeface="Calibri"/>
              </a:rPr>
              <a:t>The backend forces the model to return a single, strict JSON object — parsed, validated and normalized before it ever reaches the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507492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926080"/>
            <a:ext cx="457200" cy="4572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47857"/>
              </a:gs>
              <a:gs pos="100000">
                <a:srgbClr val="0F76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880360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942"/>
                </a:solidFill>
                <a:latin typeface="Calibri"/>
              </a:rPr>
              <a:t>Structured system prompt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Demands an exact schema with no prose or code fences.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30168"/>
            <a:ext cx="507492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3767328"/>
            <a:ext cx="457200" cy="4572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47857"/>
              </a:gs>
              <a:gs pos="100000">
                <a:srgbClr val="0F76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721608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942"/>
                </a:solidFill>
                <a:latin typeface="Calibri"/>
              </a:rPr>
              <a:t>Balanced-brace JSON parser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Extracts the first valid JSON object from the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71416"/>
            <a:ext cx="507492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" y="4608576"/>
            <a:ext cx="457200" cy="4572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47857"/>
              </a:gs>
              <a:gs pos="100000">
                <a:srgbClr val="0F76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4562856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942"/>
                </a:solidFill>
                <a:latin typeface="Calibri"/>
              </a:rPr>
              <a:t>Normalization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Repairs fields, clamps costs, guarantees budget = total.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12664"/>
            <a:ext cx="5074920" cy="731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5449824"/>
            <a:ext cx="457200" cy="45720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47857"/>
              </a:gs>
              <a:gs pos="100000">
                <a:srgbClr val="0F76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404104"/>
            <a:ext cx="4206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F2942"/>
                </a:solidFill>
                <a:latin typeface="Calibri"/>
              </a:rPr>
              <a:t>Mock fallback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Deterministic generator runs with no API key — always 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EC8F0"/>
                </a:solidFill>
                <a:latin typeface="Consolas"/>
              </a:rPr>
              <a:t>Required JSON schema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{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"tripTitle": "String",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"summary": "String",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"budgetEstimation": {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"food": 0, "activities": 0,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"stay": 0, "total": 0 },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"days": [{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"dayNumber": 1,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"theme": "String",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"activities": [{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   "time": "Morning",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   "title": "String",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   "description": "String",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      "cost": 0 }] }],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  "packingList": ["String"]</a:t>
            </a:r>
          </a:p>
          <a:p>
            <a:r>
              <a:rPr sz="1150">
                <a:solidFill>
                  <a:srgbClr val="9FE6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Database Design —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292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5029200" cy="5486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84832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▦ 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67004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2942"/>
                </a:solidFill>
                <a:latin typeface="Calibri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369A1"/>
                </a:solidFill>
                <a:latin typeface="Calibri"/>
              </a:rPr>
              <a:t>TEXT · 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05409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54096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438144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2942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43814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369A1"/>
                </a:solidFill>
                <a:latin typeface="Calibri"/>
              </a:rPr>
              <a:t>TEXT · UNIQUE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822192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passwordHash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2219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 (bcrypt)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206240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createdAt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206240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 (ISO)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011680"/>
            <a:ext cx="5029200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011680"/>
            <a:ext cx="5029200" cy="5486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84832"/>
            <a:ext cx="4572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▦  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67004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2942"/>
                </a:solidFill>
                <a:latin typeface="Calibri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670048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369A1"/>
                </a:solidFill>
                <a:latin typeface="Calibri"/>
              </a:rPr>
              <a:t>TEXT · 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05409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2942"/>
                </a:solidFill>
                <a:latin typeface="Calibri"/>
              </a:rPr>
              <a:t>userId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054096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369A1"/>
                </a:solidFill>
                <a:latin typeface="Calibri"/>
              </a:rPr>
              <a:t>TEXT · FK →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3438144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title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43814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3822192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params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822192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 (JSON)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206240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itinerary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206240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 (JSON)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59028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createdAt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590288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TEXT (ISO)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369A1"/>
                </a:solidFill>
                <a:latin typeface="Calibri"/>
              </a:rPr>
              <a:t>Engine: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better-sqlite3 (synchronous, single file, WAL mode). Case-insensitive UNIQUE index on email, prepared statements, and an index on trips(userId, createdAt). No external database server required.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2350008"/>
            <a:ext cx="749808" cy="74980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317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bcrypt hashing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Passwords salted &amp; hashed (cost 10) — never stored in plain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2350008"/>
            <a:ext cx="749808" cy="74980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317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JWT sessions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Signed 7-day tokens; verified by Express middleware on protected routes.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862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178808"/>
            <a:ext cx="749808" cy="74980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605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Server validation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Email format, password length, day range and enum checks on every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886200"/>
            <a:ext cx="52578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20840" y="4178808"/>
            <a:ext cx="749808" cy="74980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1605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942"/>
                </a:solidFill>
                <a:latin typeface="Calibri"/>
              </a:rPr>
              <a:t>Scoped data access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Trips are queried by the authenticated user id only.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2743200"/>
            <a:ext cx="658368" cy="65836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47872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Landing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Hero, features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testimonials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52928" y="3337560"/>
            <a:ext cx="237744" cy="274320"/>
          </a:xfrm>
          <a:prstGeom prst="rightArrow">
            <a:avLst/>
          </a:prstGeom>
          <a:solidFill>
            <a:srgbClr val="7E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246888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67328" y="2743200"/>
            <a:ext cx="658368" cy="65836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47872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Auth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Glassmorphism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login / sign-up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93208" y="3337560"/>
            <a:ext cx="237744" cy="274320"/>
          </a:xfrm>
          <a:prstGeom prst="rightArrow">
            <a:avLst/>
          </a:prstGeom>
          <a:solidFill>
            <a:srgbClr val="7E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9240" y="246888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07608" y="2743200"/>
            <a:ext cx="658368" cy="65836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547872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Wizard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4-step planner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form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33488" y="3337560"/>
            <a:ext cx="237744" cy="274320"/>
          </a:xfrm>
          <a:prstGeom prst="rightArrow">
            <a:avLst/>
          </a:prstGeom>
          <a:solidFill>
            <a:srgbClr val="7E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46888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2743200"/>
            <a:ext cx="658368" cy="65836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547872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Generating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Animated 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loading state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73768" y="3337560"/>
            <a:ext cx="237744" cy="274320"/>
          </a:xfrm>
          <a:prstGeom prst="rightArrow">
            <a:avLst/>
          </a:prstGeom>
          <a:solidFill>
            <a:srgbClr val="7E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9800" y="246888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88168" y="2743200"/>
            <a:ext cx="658368" cy="658368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547872"/>
            <a:ext cx="1783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F2942"/>
                </a:solidFill>
                <a:latin typeface="Calibri"/>
              </a:rPr>
              <a:t>Itinerary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Timeline, budget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&amp; packing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CORE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Interactive Itinerary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3657600" cy="4114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E6F3FF"/>
                </a:solidFill>
                <a:latin typeface="Calibri"/>
              </a:rPr>
              <a:t>Three views, one trip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🗓️  Itinerary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6F3FF"/>
                </a:solidFill>
                <a:latin typeface="Calibri"/>
              </a:rPr>
              <a:t>Vertical timeline — morning,
afternoon &amp; evening.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💰  Budget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6F3FF"/>
                </a:solidFill>
                <a:latin typeface="Calibri"/>
              </a:rPr>
              <a:t>Animated bars for food,
activities &amp; lodging.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🎒  Packing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E6F3FF"/>
                </a:solidFill>
                <a:latin typeface="Calibri"/>
              </a:rPr>
              <a:t>Interactive, checkable
list with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65960"/>
            <a:ext cx="65379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112264"/>
            <a:ext cx="530352" cy="53035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B45309"/>
              </a:gs>
              <a:gs pos="100000">
                <a:srgbClr val="B453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07568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45309"/>
                </a:solidFill>
                <a:latin typeface="Calibri"/>
              </a:rPr>
              <a:t>Morning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Fushimi Inari shrine hike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1854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47857"/>
                </a:solidFill>
                <a:latin typeface="Calibri"/>
              </a:rPr>
              <a:t>$22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926080"/>
            <a:ext cx="65379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3072384"/>
            <a:ext cx="530352" cy="53035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369A1"/>
              </a:gs>
              <a:gs pos="100000">
                <a:srgbClr val="0369A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0358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369A1"/>
                </a:solidFill>
                <a:latin typeface="Calibri"/>
              </a:rPr>
              <a:t>Afternoon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Gion district &amp; matcha tasting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1455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47857"/>
                </a:solidFill>
                <a:latin typeface="Calibri"/>
              </a:rPr>
              <a:t>$30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886200"/>
            <a:ext cx="65379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4032504"/>
            <a:ext cx="530352" cy="530352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9959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563EB"/>
                </a:solidFill>
                <a:latin typeface="Calibri"/>
              </a:rPr>
              <a:t>Evening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Kaiseki dinner by the 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1056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47857"/>
                </a:solidFill>
                <a:latin typeface="Calibri"/>
              </a:rPr>
              <a:t>$85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98348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E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12064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369A1"/>
                </a:solidFill>
                <a:latin typeface="Calibri"/>
              </a:rPr>
              <a:t>Estimated budget</a:t>
            </a:r>
            <a:r>
              <a:rPr sz="1200" b="0" i="0">
                <a:solidFill>
                  <a:srgbClr val="475569"/>
                </a:solidFill>
                <a:latin typeface="Calibri"/>
              </a:rPr>
              <a:t>    Food $920  ·  Activities $560  ·  Stay $1,360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2942"/>
                </a:solidFill>
                <a:latin typeface="Calibri"/>
              </a:rPr>
              <a:t>Total  </a:t>
            </a:r>
            <a:r>
              <a:rPr sz="1400" b="1" i="0">
                <a:solidFill>
                  <a:srgbClr val="2563EB"/>
                </a:solidFill>
                <a:latin typeface="Calibri"/>
              </a:rPr>
              <a:t>$2,840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  ≈ $710 / day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DESIGN &amp; 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Light / Dark Mode +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1206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945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369A1"/>
                </a:solidFill>
                <a:latin typeface="Calibri"/>
              </a:rPr>
              <a:t>☀  Light · Baby Blue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Soft pastel canvas, frosted white cards, deep-blue interactive accents.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F2942"/>
                </a:solidFill>
                <a:latin typeface="Calibri"/>
              </a:rPr>
              <a:t>Aa Aa Aa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120640" cy="20116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EC8F0"/>
                </a:solidFill>
                <a:latin typeface="Calibri"/>
              </a:rPr>
              <a:t>🌙  Dark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6F3FF"/>
                </a:solidFill>
                <a:latin typeface="Calibri"/>
              </a:rPr>
              <a:t>Class-based dark theme, aurora glow, no flash on load (pre-paint script).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Aa Aa Aa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51960"/>
            <a:ext cx="10424160" cy="1783080"/>
          </a:xfrm>
          <a:prstGeom prst="roundRect">
            <a:avLst>
              <a:gd name="adj" fmla="val 8000"/>
            </a:avLst>
          </a:prstGeom>
          <a:solidFill>
            <a:srgbClr val="E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07408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369A1"/>
                </a:solidFill>
                <a:latin typeface="Calibri"/>
              </a:rPr>
              <a:t>WCAG AA verified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Every text/background pair was checked with a contrast calculator. Fixed: white-on-light-blue buttons (1.8→5.2:1), faint labels (2.6→7.6:1), accent text and status colors. Result: </a:t>
            </a:r>
            <a:r>
              <a:rPr sz="1300" b="1" i="0">
                <a:solidFill>
                  <a:srgbClr val="047857"/>
                </a:solidFill>
                <a:latin typeface="Calibri"/>
              </a:rPr>
              <a:t>11/11 pairs ≥ 4.5:1.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Testing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24231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284C7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Auth &amp; API smoke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57400"/>
            <a:ext cx="24231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8600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47857"/>
                </a:solidFill>
                <a:latin typeface="Calibri"/>
              </a:rPr>
              <a:t>11/11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Light-mode contrast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pairs ≥ WCAG AA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24231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563EB"/>
                </a:solidFill>
                <a:latin typeface="Calibri"/>
              </a:rPr>
              <a:t>1.5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Production build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(1,935 modules)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57400"/>
            <a:ext cx="24231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286000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309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0632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External services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to run locally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69080"/>
            <a:ext cx="10424160" cy="1965960"/>
          </a:xfrm>
          <a:prstGeom prst="roundRect">
            <a:avLst>
              <a:gd name="adj" fmla="val 8000"/>
            </a:avLst>
          </a:prstGeom>
          <a:solidFill>
            <a:srgbClr val="E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24528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369A1"/>
                </a:solidFill>
                <a:latin typeface="Calibri"/>
              </a:rPr>
              <a:t>Verified end-to-end: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✓  Register → duplicate block (409) → login (case-insensitive) → generate → read trips back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✓  Input validation returns 400; unauthenticated requests return 401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✓  Data persisted in SQLite — confirmed by querying the .db file directly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✓  Itinerary JSON always valid: budget food+activities+stay = total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ENGINEERING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241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240280"/>
            <a:ext cx="512064" cy="51206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85416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942"/>
                </a:solidFill>
                <a:latin typeface="Calibri"/>
              </a:rPr>
              <a:t>Guaranteeing valid AI JSON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—  Strict system prompt + balanced-brace extractor + normalization layer with a deterministic mock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81528"/>
            <a:ext cx="104241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3264408"/>
            <a:ext cx="512064" cy="51206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09544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942"/>
                </a:solidFill>
                <a:latin typeface="Calibri"/>
              </a:rPr>
              <a:t>Theme readability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—  Audited every color pair with a WCAG calculator; deepened gradients and lifted faint text to pass AA.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05656"/>
            <a:ext cx="104241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4288536"/>
            <a:ext cx="512064" cy="51206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33672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942"/>
                </a:solidFill>
                <a:latin typeface="Calibri"/>
              </a:rPr>
              <a:t>Standalone persistence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—  Swapped a JSON file for embedded SQLite (better-sqlite3) — real database, zero setup.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29784"/>
            <a:ext cx="104241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8992" y="5312664"/>
            <a:ext cx="512064" cy="51206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2578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2942"/>
                </a:solidFill>
                <a:latin typeface="Calibri"/>
              </a:rPr>
              <a:t>No-flash dark mode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   —  Pre-paint inline script applies the saved theme before React mounts.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66928"/>
            <a:ext cx="146304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284C7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369A1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84124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942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Wanderwise · AI Travel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24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0369A1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12064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0369A1"/>
                </a:solidFill>
                <a:latin typeface="Calibri"/>
              </a:rPr>
              <a:t>What was delivered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Animated, responsive landing page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JWT auth on SQLite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AI itinerary engine (strict JSON)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Interactive timeline, budget &amp; packing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Light/dark themes, WCAG AA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✓  Full backend + frontend,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120640" cy="402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12848"/>
            <a:ext cx="45720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E6F3FF"/>
                </a:solidFill>
                <a:latin typeface="Calibri"/>
              </a:rPr>
              <a:t>Future 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600" b="0" i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Saved-trips history dashboard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Real maps &amp; live routing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Collaborative trip editing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Bookings &amp; price APIs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Export to PDF / calendar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Mobile app (React Native)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69A1"/>
              </a:gs>
              <a:gs pos="100000">
                <a:srgbClr val="2563EB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3291840"/>
            <a:ext cx="4572000" cy="4572000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280160"/>
            <a:ext cx="3474720" cy="3474720"/>
          </a:xfrm>
          <a:prstGeom prst="ellipse">
            <a:avLst/>
          </a:prstGeom>
          <a:solidFill>
            <a:srgbClr val="7EC8F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40680" y="1371600"/>
            <a:ext cx="1280160" cy="1280160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FFFFFF"/>
              </a:gs>
              <a:gs pos="100000">
                <a:srgbClr val="7EC8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</a:rPr>
              <a:t>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E6F3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Aiperi Kudaibergenova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6F3FF"/>
                </a:solidFill>
                <a:latin typeface="Calibri"/>
              </a:rPr>
              <a:t>Instructor: Abdulkerim Oncu  ·  Wanderwise — AI Travel Planner  · 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